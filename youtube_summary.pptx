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94560"/>
            <a:ext cx="10362895" cy="1463040"/>
          </a:xfrm>
        </p:spPr>
        <p:txBody>
          <a:bodyPr anchor="b"/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YouTube Video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840480"/>
            <a:ext cx="10362895" cy="731520"/>
          </a:xfrm>
        </p:spPr>
        <p:txBody>
          <a:bodyPr/>
          <a:lstStyle/>
          <a:p>
            <a:pPr algn="l"/>
            <a:r>
              <a:rPr sz="2000" b="0">
                <a:solidFill>
                  <a:srgbClr val="C9D1E0"/>
                </a:solidFill>
                <a:latin typeface="Calibri"/>
              </a:rPr>
              <a:t>Generated from YouTube video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655" cy="914400"/>
          </a:xfrm>
        </p:spPr>
        <p:txBody>
          <a:bodyPr anchor="ctr" wrap="square"/>
          <a:lstStyle/>
          <a:p>
            <a:pPr algn="l"/>
            <a:r>
              <a:rPr sz="3600" b="1">
                <a:solidFill>
                  <a:srgbClr val="1F2A44"/>
                </a:solidFill>
                <a:latin typeface="Calibri"/>
              </a:rPr>
              <a:t>Main Topic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0">
                <a:solidFill>
                  <a:srgbClr val="2B2B2B"/>
                </a:solidFill>
                <a:latin typeface="Calibri"/>
              </a:rPr>
              <a:t>Introduction and technical overview of "Jeff," a new AI decision model that acts as a classifier rather than a Large Language Model (LLM).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655" cy="914400"/>
          </a:xfrm>
        </p:spPr>
        <p:txBody>
          <a:bodyPr anchor="ctr" wrap="square"/>
          <a:lstStyle/>
          <a:p>
            <a:pPr algn="l"/>
            <a:r>
              <a:rPr sz="3600" b="1">
                <a:solidFill>
                  <a:srgbClr val="1F2A44"/>
                </a:solidFill>
                <a:latin typeface="Calibri"/>
              </a:rPr>
              <a:t>Important Concepts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1">
                <a:solidFill>
                  <a:srgbClr val="1F2A44"/>
                </a:solidFill>
                <a:latin typeface="Calibri"/>
              </a:rPr>
              <a:t>Jeff: </a:t>
            </a:r>
            <a:r>
              <a:rPr sz="2600" b="0">
                <a:solidFill>
                  <a:srgbClr val="2B2B2B"/>
                </a:solidFill>
                <a:latin typeface="Calibri"/>
              </a:rPr>
              <a:t>A non-autoregressive AI model designed for fast, structured decision-making that software can use directly, acting like a classifier with pre-trained world knowledge.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1">
                <a:solidFill>
                  <a:srgbClr val="1F2A44"/>
                </a:solidFill>
                <a:latin typeface="Calibri"/>
              </a:rPr>
              <a:t>LLM (Large Language Model): </a:t>
            </a:r>
            <a:r>
              <a:rPr sz="2600" b="0">
                <a:solidFill>
                  <a:srgbClr val="2B2B2B"/>
                </a:solidFill>
                <a:latin typeface="Calibri"/>
              </a:rPr>
              <a:t>An AI model that generates text in an autoregressive, token-by-token fashion.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1">
                <a:solidFill>
                  <a:srgbClr val="1F2A44"/>
                </a:solidFill>
                <a:latin typeface="Calibri"/>
              </a:rPr>
              <a:t>System 1 Thinking: </a:t>
            </a:r>
            <a:r>
              <a:rPr sz="2600" b="0">
                <a:solidFill>
                  <a:srgbClr val="2B2B2B"/>
                </a:solidFill>
                <a:latin typeface="Calibri"/>
              </a:rPr>
              <a:t>Fast, intuitive, and quick decision-making requiring little reasoning.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655" cy="914400"/>
          </a:xfrm>
        </p:spPr>
        <p:txBody>
          <a:bodyPr anchor="ctr" wrap="square"/>
          <a:lstStyle/>
          <a:p>
            <a:pPr algn="l"/>
            <a:r>
              <a:rPr sz="3600" b="1">
                <a:solidFill>
                  <a:srgbClr val="1F2A44"/>
                </a:solidFill>
                <a:latin typeface="Calibri"/>
              </a:rPr>
              <a:t>Important Concepts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1">
                <a:solidFill>
                  <a:srgbClr val="1F2A44"/>
                </a:solidFill>
                <a:latin typeface="Calibri"/>
              </a:rPr>
              <a:t>System 2 Thinking: </a:t>
            </a:r>
            <a:r>
              <a:rPr sz="2600" b="0">
                <a:solidFill>
                  <a:srgbClr val="2B2B2B"/>
                </a:solidFill>
                <a:latin typeface="Calibri"/>
              </a:rPr>
              <a:t>Slow, deliberate, and deep reasoning-based thinking.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1">
                <a:solidFill>
                  <a:srgbClr val="1F2A44"/>
                </a:solidFill>
                <a:latin typeface="Calibri"/>
              </a:rPr>
              <a:t>RLCD (Reinforcement Learning for Calibrated Decision): </a:t>
            </a:r>
            <a:r>
              <a:rPr sz="2600" b="0">
                <a:solidFill>
                  <a:srgbClr val="2B2B2B"/>
                </a:solidFill>
                <a:latin typeface="Calibri"/>
              </a:rPr>
              <a:t>A technique used to optimize a model to accurately output honest confidence scores alongside its answers.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1">
                <a:solidFill>
                  <a:srgbClr val="1F2A44"/>
                </a:solidFill>
                <a:latin typeface="Calibri"/>
              </a:rPr>
              <a:t>Parallel Sampler: </a:t>
            </a:r>
            <a:r>
              <a:rPr sz="2600" b="0">
                <a:solidFill>
                  <a:srgbClr val="2B2B2B"/>
                </a:solidFill>
                <a:latin typeface="Calibri"/>
              </a:rPr>
              <a:t>A component allowing the model to answer multiple questions simultaneously within a single context without increasing processing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655" cy="914400"/>
          </a:xfrm>
        </p:spPr>
        <p:txBody>
          <a:bodyPr anchor="ctr" wrap="square"/>
          <a:lstStyle/>
          <a:p>
            <a:pPr algn="l"/>
            <a:r>
              <a:rPr sz="3600" b="1">
                <a:solidFill>
                  <a:srgbClr val="1F2A44"/>
                </a:solidFill>
                <a:latin typeface="Calibri"/>
              </a:rPr>
              <a:t>Key Points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0">
                <a:solidFill>
                  <a:srgbClr val="2B2B2B"/>
                </a:solidFill>
                <a:latin typeface="Calibri"/>
              </a:rPr>
              <a:t>Jeff is significantly faster (up to 13 times faster) and cheaper (up to 81 times cheaper) than standard LLMs for classification tasks.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0">
                <a:solidFill>
                  <a:srgbClr val="2B2B2B"/>
                </a:solidFill>
                <a:latin typeface="Calibri"/>
              </a:rPr>
              <a:t>It can process multiple questions in parallel for a single context and cannot hallucinate because it forces selection from provided options.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0">
                <a:solidFill>
                  <a:srgbClr val="2B2B2B"/>
                </a:solidFill>
                <a:latin typeface="Calibri"/>
              </a:rPr>
              <a:t>Created by Diogo Almeida (former OpenAI researcher) under the company TypeSafe AI, Jeff addresses the need for "System 1 thinking" in software automation.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655" cy="914400"/>
          </a:xfrm>
        </p:spPr>
        <p:txBody>
          <a:bodyPr anchor="ctr" wrap="square"/>
          <a:lstStyle/>
          <a:p>
            <a:pPr algn="l"/>
            <a:r>
              <a:rPr sz="3600" b="1">
                <a:solidFill>
                  <a:srgbClr val="1F2A44"/>
                </a:solidFill>
                <a:latin typeface="Calibri"/>
              </a:rPr>
              <a:t>Key Points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0">
                <a:solidFill>
                  <a:srgbClr val="2B2B2B"/>
                </a:solidFill>
                <a:latin typeface="Calibri"/>
              </a:rPr>
              <a:t>Current limitations include being text-only, lacking web search integration, providing no reasoning steps/explainability, and operating as a closed-source model with no official architecture papers released.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655" cy="914400"/>
          </a:xfrm>
        </p:spPr>
        <p:txBody>
          <a:bodyPr anchor="ctr" wrap="square"/>
          <a:lstStyle/>
          <a:p>
            <a:pPr algn="l"/>
            <a:r>
              <a:rPr sz="3600" b="1">
                <a:solidFill>
                  <a:srgbClr val="1F2A44"/>
                </a:solidFill>
                <a:latin typeface="Calibri"/>
              </a:rPr>
              <a:t>Steps /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02920" indent="-502920">
              <a:spcAft>
                <a:spcPts val="1200"/>
              </a:spcAft>
              <a:buClr>
                <a:srgbClr val="1F2A44"/>
              </a:buClr>
              <a:buAutoNum type="arabicPeriod"/>
            </a:pPr>
            <a:r>
              <a:rPr sz="2600" b="0">
                <a:solidFill>
                  <a:srgbClr val="2B2B2B"/>
                </a:solidFill>
                <a:latin typeface="Calibri"/>
              </a:rPr>
              <a:t>Load context (such as review text) and provide structured questions with predefined options.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AutoNum type="arabicPeriod" startAt="2"/>
            </a:pPr>
            <a:r>
              <a:rPr sz="2600" b="0">
                <a:solidFill>
                  <a:srgbClr val="2B2B2B"/>
                </a:solidFill>
                <a:latin typeface="Calibri"/>
              </a:rPr>
              <a:t>Send the input to the Jeff API using its SDK, defining a confidence threshold (e.g., 0.5).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AutoNum type="arabicPeriod" startAt="3"/>
            </a:pPr>
            <a:r>
              <a:rPr sz="2600" b="0">
                <a:solidFill>
                  <a:srgbClr val="2B2B2B"/>
                </a:solidFill>
                <a:latin typeface="Calibri"/>
              </a:rPr>
              <a:t>The model performs parallel sampling, evaluating the inputs and outputting probability scores and reliable confidence ratings against the specified options.</a:t>
            </a:r>
          </a:p>
          <a:p>
            <a:pPr marL="502920" indent="-502920">
              <a:spcAft>
                <a:spcPts val="1200"/>
              </a:spcAft>
              <a:buClr>
                <a:srgbClr val="1F2A44"/>
              </a:buClr>
              <a:buAutoNum type="arabicPeriod" startAt="4"/>
            </a:pPr>
            <a:r>
              <a:rPr sz="2600" b="0">
                <a:solidFill>
                  <a:srgbClr val="2B2B2B"/>
                </a:solidFill>
                <a:latin typeface="Calibri"/>
              </a:rPr>
              <a:t>Extract the highest probability answers to make fast, automated software decisions (e.g., routing, filtering, or sentiment categorization).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0" y="457200"/>
            <a:ext cx="10728655" cy="914400"/>
          </a:xfrm>
        </p:spPr>
        <p:txBody>
          <a:bodyPr anchor="ctr" wrap="square"/>
          <a:lstStyle/>
          <a:p>
            <a:pPr algn="l"/>
            <a:r>
              <a:rPr sz="3600" b="1">
                <a:solidFill>
                  <a:srgbClr val="1F2A44"/>
                </a:solidFill>
                <a:latin typeface="Calibri"/>
              </a:rPr>
              <a:t>Final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728655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502920" indent="-502920">
              <a:spcAft>
                <a:spcPts val="1200"/>
              </a:spcAft>
              <a:buClr>
                <a:srgbClr val="1F2A44"/>
              </a:buClr>
              <a:buChar char="•"/>
            </a:pPr>
            <a:r>
              <a:rPr sz="2600" b="0">
                <a:solidFill>
                  <a:srgbClr val="2B2B2B"/>
                </a:solidFill>
                <a:latin typeface="Calibri"/>
              </a:rPr>
              <a:t>Jeff represents a paradigm shift where AI moves from being a chat-based feature to a fast, cheap plumbing primitive for automated decision-making alongside LLMs.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6309360"/>
            <a:ext cx="822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 b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